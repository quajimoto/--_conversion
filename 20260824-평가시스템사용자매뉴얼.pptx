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79" autoAdjust="0"/>
  </p:normalViewPr>
  <p:slideViewPr>
    <p:cSldViewPr snapToGrid="0" snapToObjects="1">
      <p:cViewPr varScale="1">
        <p:scale>
          <a:sx n="99" d="100"/>
          <a:sy n="99" d="100"/>
        </p:scale>
        <p:origin x="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BCE0D-3B1B-4FCB-A037-7F5F055D7501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C9366-582E-4074-B3EB-52644AE66D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737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안녕하십니까 전산관리 오정환입니다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금일 진행 예정인 사내 </a:t>
            </a:r>
            <a:r>
              <a:rPr lang="en-US" altLang="ko-KR" dirty="0" smtClean="0"/>
              <a:t>AI </a:t>
            </a:r>
            <a:r>
              <a:rPr lang="ko-KR" altLang="en-US" dirty="0" smtClean="0"/>
              <a:t>경진대회 평가 시스템 사용방법에 대해서 설명 드리겠습니다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1C9366-582E-4074-B3EB-52644AE66D5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525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" Type="http://schemas.openxmlformats.org/officeDocument/2006/relationships/image" Target="../media/image8.png"/><Relationship Id="rId21" Type="http://schemas.openxmlformats.org/officeDocument/2006/relationships/image" Target="../media/image25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6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3.png"/><Relationship Id="rId1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42.png"/><Relationship Id="rId17" Type="http://schemas.openxmlformats.org/officeDocument/2006/relationships/image" Target="../media/image24.png"/><Relationship Id="rId2" Type="http://schemas.openxmlformats.org/officeDocument/2006/relationships/image" Target="../media/image40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41.png"/><Relationship Id="rId15" Type="http://schemas.openxmlformats.org/officeDocument/2006/relationships/image" Target="../media/image45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54462" y="2026889"/>
            <a:ext cx="3017937" cy="35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모바일</a:t>
            </a:r>
            <a:r>
              <a:rPr sz="1950" b="0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웹 </a:t>
            </a:r>
            <a:r>
              <a:rPr sz="1950" b="0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평가자</a:t>
            </a:r>
            <a:r>
              <a:rPr sz="1950" b="0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50" b="0" i="0" u="none" dirty="0" err="1" smtClean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가이드</a:t>
            </a:r>
            <a:endParaRPr sz="1950" b="0" i="0" u="none" dirty="0">
              <a:solidFill>
                <a:srgbClr val="236C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831773" y="2407890"/>
            <a:ext cx="2940626" cy="57150"/>
          </a:xfrm>
          <a:prstGeom prst="roundRect">
            <a:avLst>
              <a:gd name="adj" fmla="val 50000"/>
            </a:avLst>
          </a:prstGeom>
          <a:solidFill>
            <a:srgbClr val="236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8816" y="2846040"/>
            <a:ext cx="7434366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사내</a:t>
            </a:r>
            <a:r>
              <a:rPr sz="480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경진대회</a:t>
            </a:r>
            <a:r>
              <a:rPr sz="480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</a:t>
            </a:r>
            <a:r>
              <a:rPr sz="480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시스템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480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사용</a:t>
            </a:r>
            <a:r>
              <a:rPr sz="480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매뉴얼</a:t>
            </a:r>
            <a:endParaRPr sz="4800" b="0" i="0" u="none" dirty="0">
              <a:solidFill>
                <a:srgbClr val="1E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44292" y="4979640"/>
            <a:ext cx="3698272" cy="27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공정하고</a:t>
            </a:r>
            <a:r>
              <a:rPr sz="15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원활한</a:t>
            </a:r>
            <a:r>
              <a:rPr sz="15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평가를</a:t>
            </a:r>
            <a:r>
              <a:rPr sz="15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위한</a:t>
            </a:r>
            <a:r>
              <a:rPr sz="15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간편</a:t>
            </a:r>
            <a:r>
              <a:rPr sz="15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안내서</a:t>
            </a:r>
            <a:endParaRPr sz="1500" b="0" i="0" u="none" dirty="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5" y="1900237"/>
            <a:ext cx="4543425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631" y="2664172"/>
            <a:ext cx="3643312" cy="30441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1906" y="4212877"/>
            <a:ext cx="3052762" cy="447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9263" y="593582"/>
            <a:ext cx="438150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/>
              <a:t>
</a:t>
            </a:r>
            <a:r>
              <a:rPr sz="3300" b="1" i="0" u="none" dirty="0">
                <a:solidFill>
                  <a:srgbClr val="1E293B"/>
                </a:solidFill>
                <a:latin typeface="Pretendard"/>
              </a:rPr>
              <a:t> </a:t>
            </a:r>
            <a:r>
              <a:rPr sz="3300" b="1" i="0" u="none" dirty="0" err="1">
                <a:solidFill>
                  <a:srgbClr val="1E293B"/>
                </a:solidFill>
                <a:latin typeface="Pretendard"/>
              </a:rPr>
              <a:t>시스템</a:t>
            </a:r>
            <a:r>
              <a:rPr sz="3300" b="1" i="0" u="none" dirty="0">
                <a:solidFill>
                  <a:srgbClr val="1E293B"/>
                </a:solidFill>
                <a:latin typeface="Pretendard"/>
              </a:rPr>
              <a:t> </a:t>
            </a:r>
            <a:r>
              <a:rPr sz="3300" b="1" i="0" u="none" dirty="0" err="1">
                <a:solidFill>
                  <a:srgbClr val="1E293B"/>
                </a:solidFill>
                <a:latin typeface="Pretendard"/>
              </a:rPr>
              <a:t>접속</a:t>
            </a:r>
            <a:r>
              <a:rPr sz="3300" b="1" i="0" u="none" dirty="0">
                <a:solidFill>
                  <a:srgbClr val="1E293B"/>
                </a:solidFill>
                <a:latin typeface="Pretendard"/>
              </a:rPr>
              <a:t> 및 </a:t>
            </a:r>
            <a:r>
              <a:rPr sz="3300" b="1" i="0" u="none" dirty="0" err="1">
                <a:solidFill>
                  <a:srgbClr val="1E293B"/>
                </a:solidFill>
                <a:latin typeface="Pretendard"/>
              </a:rPr>
              <a:t>로그인</a:t>
            </a:r>
            <a:endParaRPr sz="3300" b="1" i="0" u="none" dirty="0">
              <a:solidFill>
                <a:srgbClr val="1E293B"/>
              </a:solidFill>
              <a:latin typeface="Pretendard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75059"/>
            <a:ext cx="1054596" cy="314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90625" y="2776835"/>
            <a:ext cx="4933950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ko-KR" altLang="en-US" sz="1650" b="0" i="0" u="none" dirty="0" smtClean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사내 메신저로 보내드린 링크를 클릭 하시면 옆의 화면이 </a:t>
            </a:r>
            <a:r>
              <a:rPr lang="ko-KR" altLang="en-US" sz="1650" b="0" i="0" u="none" dirty="0" err="1" smtClean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나올겁니다</a:t>
            </a:r>
            <a:r>
              <a:rPr lang="en-US" altLang="ko-KR" sz="1650" b="0" i="0" u="none" dirty="0" smtClean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650" b="0" i="0" u="none" dirty="0">
              <a:solidFill>
                <a:srgbClr val="1E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0625" y="3721596"/>
            <a:ext cx="493395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화면의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본인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이름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직접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입력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칸에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평가자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본인의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성함을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정확하게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작성해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주세요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4658617"/>
            <a:ext cx="493395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이름 입력 후 하단의 </a:t>
            </a:r>
            <a:r>
              <a:rPr sz="1650" b="1" i="0" u="none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[입장하기]</a:t>
            </a:r>
            <a:r>
              <a:rPr sz="1650" b="0" i="0" u="none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버튼을 누르면 평가 화면으로 이동합니다.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795885"/>
            <a:ext cx="20002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740646"/>
            <a:ext cx="20002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677667"/>
            <a:ext cx="200025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55587" y="3054697"/>
            <a:ext cx="32054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5668"/>
                </a:solidFill>
                <a:latin typeface="Pretendard ExtraBold"/>
              </a:rPr>
              <a:t>사내 경진대회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1906" y="3435697"/>
            <a:ext cx="3052762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Pretendard"/>
              </a:rPr>
              <a:t>평가 및 집계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4306" y="4336702"/>
            <a:ext cx="457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retendard Medium"/>
              </a:rPr>
              <a:t>오정환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9187" y="5008215"/>
            <a:ext cx="152400" cy="152400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7555587" y="4755503"/>
            <a:ext cx="3205400" cy="64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5" y="1900237"/>
            <a:ext cx="4543425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225" y="4936629"/>
            <a:ext cx="4048125" cy="13602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225" y="3157537"/>
            <a:ext cx="940593" cy="15885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068" y="3157537"/>
            <a:ext cx="940593" cy="158859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5912" y="3157537"/>
            <a:ext cx="940593" cy="158859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756" y="3157537"/>
            <a:ext cx="940593" cy="158859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4225" y="2376487"/>
            <a:ext cx="1952625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9725" y="2376487"/>
            <a:ext cx="1952625" cy="4476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8050" y="4174628"/>
            <a:ext cx="692943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3893" y="4174628"/>
            <a:ext cx="692943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9737" y="4174628"/>
            <a:ext cx="692943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5581" y="4174628"/>
            <a:ext cx="692943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480323"/>
            <a:ext cx="1054596" cy="3143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90625" y="2780704"/>
            <a:ext cx="493395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시스템에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로그인하면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발표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순서에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맞춰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대상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부서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화면이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자동으로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표시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됩니다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3717726"/>
            <a:ext cx="493395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'실무 적용', '업무 효율' 등 각 평가 항목별 기준에 맞춰 점수를 입력해 주세요.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4654748"/>
            <a:ext cx="493395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해당 부서의 평가 입력이 완료되면 하단의 </a:t>
            </a:r>
            <a:r>
              <a:rPr sz="1650" b="1" i="0" u="none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[다음 부서]</a:t>
            </a:r>
            <a:r>
              <a:rPr sz="1650" b="0" i="0" u="none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버튼을 눌러 이어서 진행합니다.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2799754"/>
            <a:ext cx="2000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3736776"/>
            <a:ext cx="20002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673798"/>
            <a:ext cx="200025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58050" y="3309937"/>
            <a:ext cx="72759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1E293B"/>
                </a:solidFill>
                <a:latin typeface="Pretendard"/>
              </a:rPr>
              <a:t>실무</a:t>
            </a:r>
            <a:r>
              <a:t>
</a:t>
            </a:r>
            <a:r>
              <a:rPr sz="1125" b="1" i="0" u="none">
                <a:solidFill>
                  <a:srgbClr val="1E293B"/>
                </a:solidFill>
                <a:latin typeface="Pretendard"/>
              </a:rPr>
              <a:t>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8050" y="3738562"/>
            <a:ext cx="692943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retendard"/>
              </a:rPr>
              <a:t> 30점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893" y="3309937"/>
            <a:ext cx="72759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1E293B"/>
                </a:solidFill>
                <a:latin typeface="Pretendard"/>
              </a:rPr>
              <a:t>업무</a:t>
            </a:r>
            <a:r>
              <a:t>
</a:t>
            </a:r>
            <a:r>
              <a:rPr sz="1125" b="1" i="0" u="none">
                <a:solidFill>
                  <a:srgbClr val="1E293B"/>
                </a:solidFill>
                <a:latin typeface="Pretendard"/>
              </a:rPr>
              <a:t> 효율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893" y="3738562"/>
            <a:ext cx="692943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retendard"/>
              </a:rPr>
              <a:t> 30점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9737" y="3309937"/>
            <a:ext cx="72759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1E293B"/>
                </a:solidFill>
                <a:latin typeface="Pretendard"/>
              </a:rPr>
              <a:t>창의성/</a:t>
            </a:r>
            <a:r>
              <a:t>
</a:t>
            </a:r>
            <a:r>
              <a:rPr sz="1125" b="1" i="0" u="none">
                <a:solidFill>
                  <a:srgbClr val="1E293B"/>
                </a:solidFill>
                <a:latin typeface="Pretendard"/>
              </a:rPr>
              <a:t> 혁신성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9737" y="3738562"/>
            <a:ext cx="692943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retendard"/>
              </a:rPr>
              <a:t> 20점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5581" y="3309937"/>
            <a:ext cx="72759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1E293B"/>
                </a:solidFill>
                <a:latin typeface="Pretendard"/>
              </a:rPr>
              <a:t>확산</a:t>
            </a:r>
            <a:r>
              <a:t>
</a:t>
            </a:r>
            <a:r>
              <a:rPr sz="1125" b="1" i="0" u="none">
                <a:solidFill>
                  <a:srgbClr val="1E293B"/>
                </a:solidFill>
                <a:latin typeface="Pretendard"/>
              </a:rPr>
              <a:t> 가능성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5581" y="3738562"/>
            <a:ext cx="692943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retendard"/>
              </a:rPr>
              <a:t> 20점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4250" y="5189041"/>
            <a:ext cx="36004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총점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8101" y="5136653"/>
            <a:ext cx="47693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5668"/>
                </a:solidFill>
                <a:latin typeface="Pretendard ExtraBold"/>
              </a:rPr>
              <a:t>0 점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01100" y="2509837"/>
            <a:ext cx="13335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77550" y="2524125"/>
            <a:ext cx="1524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7125" y="5783486"/>
            <a:ext cx="13335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48775" y="5783486"/>
            <a:ext cx="13335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60905" y="5783486"/>
            <a:ext cx="152400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9263" y="593582"/>
            <a:ext cx="438150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/>
              <a:t>
</a:t>
            </a:r>
            <a:r>
              <a:rPr sz="3300" b="1" i="0" u="none" dirty="0">
                <a:solidFill>
                  <a:srgbClr val="1E293B"/>
                </a:solidFill>
                <a:latin typeface="Pretendard"/>
              </a:rPr>
              <a:t> </a:t>
            </a:r>
            <a:r>
              <a:rPr lang="ko-KR" altLang="en-US" sz="3300" b="1" i="0" u="none" dirty="0" smtClean="0">
                <a:solidFill>
                  <a:srgbClr val="1E293B"/>
                </a:solidFill>
                <a:latin typeface="Pretendard"/>
              </a:rPr>
              <a:t>부서별 평가 점수 입력</a:t>
            </a:r>
            <a:endParaRPr sz="3300" b="1" i="0" u="none" dirty="0">
              <a:solidFill>
                <a:srgbClr val="1E293B"/>
              </a:solidFill>
              <a:latin typeface="Pretendard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412481" y="5563402"/>
            <a:ext cx="1171899" cy="577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5" y="1900237"/>
            <a:ext cx="4543425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225" y="7879258"/>
            <a:ext cx="4048125" cy="326112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0445055"/>
            <a:ext cx="3686175" cy="514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8850808"/>
            <a:ext cx="850106" cy="143232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0556" y="8850808"/>
            <a:ext cx="850106" cy="143232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5912" y="8850808"/>
            <a:ext cx="850106" cy="143232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1268" y="8850808"/>
            <a:ext cx="850106" cy="1432321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8288833"/>
            <a:ext cx="1771650" cy="4191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9725" y="8288833"/>
            <a:ext cx="1771650" cy="4476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9975" y="9740205"/>
            <a:ext cx="640556" cy="4191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5331" y="9740205"/>
            <a:ext cx="640556" cy="4191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10687" y="9740205"/>
            <a:ext cx="640556" cy="4191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56043" y="9740205"/>
            <a:ext cx="640556" cy="4191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82746"/>
            <a:ext cx="1054596" cy="3143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90625" y="2613124"/>
            <a:ext cx="4933950" cy="964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화면을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아래로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내리면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완료된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내역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최신순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)'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목록에서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방금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입력한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부서의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점수들을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확인할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수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있습니다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0625" y="3885307"/>
            <a:ext cx="493395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점수를 수정해야 할 경우, 해당 부서 우측 하단의 </a:t>
            </a:r>
            <a:r>
              <a:rPr sz="1650" b="1" i="0" u="none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[수정] 버튼</a:t>
            </a:r>
            <a:r>
              <a:rPr sz="1650" b="0" i="0" u="none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 눌러 재입력이 가능합니다.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0625" y="4822328"/>
            <a:ext cx="493395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수정이 필요 없는 부서라면 그대로 두고, 계속해서 다음 부서 평가를 이어나가시면 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4225" y="6946403"/>
            <a:ext cx="404812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4225" y="7441108"/>
            <a:ext cx="4250531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retendard"/>
              </a:rPr>
              <a:t>완료된 평가 내역 (최신순)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2632174"/>
            <a:ext cx="200025" cy="2476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3904357"/>
            <a:ext cx="200025" cy="247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4841378"/>
            <a:ext cx="200025" cy="2476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86650" y="10602217"/>
            <a:ext cx="32004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retendard"/>
              </a:rPr>
              <a:t>총점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4594" y="10559355"/>
            <a:ext cx="1215330" cy="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retendard"/>
              </a:rPr>
              <a:t>수정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19975" y="8974633"/>
            <a:ext cx="672584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1E293B"/>
                </a:solidFill>
                <a:latin typeface="Pretendard"/>
              </a:rPr>
              <a:t>실무</a:t>
            </a:r>
            <a:r>
              <a:t>
</a:t>
            </a:r>
            <a:r>
              <a:rPr sz="975" b="1" i="0" u="none">
                <a:solidFill>
                  <a:srgbClr val="1E293B"/>
                </a:solidFill>
                <a:latin typeface="Pretendard"/>
              </a:rPr>
              <a:t> 적용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19975" y="9353550"/>
            <a:ext cx="640556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825" b="0" i="0" u="none">
                <a:solidFill>
                  <a:srgbClr val="64748B"/>
                </a:solidFill>
                <a:latin typeface="Pretendard"/>
              </a:rPr>
              <a:t> 30점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5331" y="8974633"/>
            <a:ext cx="672584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1E293B"/>
                </a:solidFill>
                <a:latin typeface="Pretendard"/>
              </a:rPr>
              <a:t>업무</a:t>
            </a:r>
            <a:r>
              <a:t>
</a:t>
            </a:r>
            <a:r>
              <a:rPr sz="975" b="1" i="0" u="none">
                <a:solidFill>
                  <a:srgbClr val="1E293B"/>
                </a:solidFill>
                <a:latin typeface="Pretendard"/>
              </a:rPr>
              <a:t> 효율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5331" y="9353550"/>
            <a:ext cx="640556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825" b="0" i="0" u="none">
                <a:solidFill>
                  <a:srgbClr val="64748B"/>
                </a:solidFill>
                <a:latin typeface="Pretendard"/>
              </a:rPr>
              <a:t> 30점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10687" y="8974633"/>
            <a:ext cx="672584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1E293B"/>
                </a:solidFill>
                <a:latin typeface="Pretendard"/>
              </a:rPr>
              <a:t>창의성/</a:t>
            </a:r>
            <a:r>
              <a:t>
</a:t>
            </a:r>
            <a:r>
              <a:rPr sz="975" b="1" i="0" u="none">
                <a:solidFill>
                  <a:srgbClr val="1E293B"/>
                </a:solidFill>
                <a:latin typeface="Pretendard"/>
              </a:rPr>
              <a:t> 혁신성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10687" y="9353550"/>
            <a:ext cx="640556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825" b="0" i="0" u="none">
                <a:solidFill>
                  <a:srgbClr val="64748B"/>
                </a:solidFill>
                <a:latin typeface="Pretendard"/>
              </a:rPr>
              <a:t> 20점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56043" y="8974633"/>
            <a:ext cx="672584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1E293B"/>
                </a:solidFill>
                <a:latin typeface="Pretendard"/>
              </a:rPr>
              <a:t>확산</a:t>
            </a:r>
            <a:r>
              <a:t>
</a:t>
            </a:r>
            <a:r>
              <a:rPr sz="975" b="1" i="0" u="none">
                <a:solidFill>
                  <a:srgbClr val="1E293B"/>
                </a:solidFill>
                <a:latin typeface="Pretendard"/>
              </a:rPr>
              <a:t> 가능성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56043" y="9353550"/>
            <a:ext cx="640556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825" b="0" i="0" u="none">
                <a:solidFill>
                  <a:srgbClr val="64748B"/>
                </a:solidFill>
                <a:latin typeface="Pretendard"/>
              </a:rPr>
              <a:t> 20점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14594" y="10559355"/>
            <a:ext cx="526003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Pretendard ExtraBold"/>
              </a:rPr>
              <a:t>12 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9263" y="593582"/>
            <a:ext cx="459971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/>
              <a:t>
</a:t>
            </a:r>
            <a:r>
              <a:rPr sz="3300" b="1" i="0" u="none" dirty="0">
                <a:solidFill>
                  <a:srgbClr val="1E293B"/>
                </a:solidFill>
                <a:latin typeface="Pretendard"/>
              </a:rPr>
              <a:t> </a:t>
            </a:r>
            <a:r>
              <a:rPr lang="ko-KR" altLang="en-US" sz="3300" b="1" i="0" u="none" dirty="0" smtClean="0">
                <a:solidFill>
                  <a:srgbClr val="1E293B"/>
                </a:solidFill>
                <a:latin typeface="Pretendard"/>
              </a:rPr>
              <a:t>평가 내역 확인 및 수정</a:t>
            </a:r>
            <a:endParaRPr sz="3300" b="1" i="0" u="none" dirty="0">
              <a:solidFill>
                <a:srgbClr val="1E293B"/>
              </a:solidFill>
              <a:latin typeface="Pretendard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7113443" y="2078182"/>
            <a:ext cx="672465" cy="394854"/>
          </a:xfrm>
          <a:prstGeom prst="rect">
            <a:avLst/>
          </a:prstGeom>
          <a:solidFill>
            <a:srgbClr val="F4F8FB"/>
          </a:solidFill>
          <a:ln>
            <a:noFill/>
          </a:ln>
          <a:effectLst>
            <a:outerShdw blurRad="40000" dist="23000" dir="5400000" rotWithShape="0">
              <a:srgbClr val="F4F8FB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15200" y="2037195"/>
            <a:ext cx="3578802" cy="4327485"/>
          </a:xfrm>
          <a:prstGeom prst="rect">
            <a:avLst/>
          </a:prstGeom>
        </p:spPr>
      </p:pic>
      <p:sp>
        <p:nvSpPr>
          <p:cNvPr id="65" name="직사각형 64"/>
          <p:cNvSpPr/>
          <p:nvPr/>
        </p:nvSpPr>
        <p:spPr>
          <a:xfrm>
            <a:off x="10395284" y="3965609"/>
            <a:ext cx="356135" cy="2502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80" y="477198"/>
            <a:ext cx="1054596" cy="3143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0625" y="2613124"/>
            <a:ext cx="493395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모든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부서에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대한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평가와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점수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입력이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끝났다면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우측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하단의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최종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제출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버튼을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클릭합니다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3550146"/>
            <a:ext cx="493395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마지막으로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제출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확인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팝업창이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나타나면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확인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클릭하여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평가를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완전히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종료합니다</a:t>
            </a:r>
            <a:r>
              <a:rPr sz="1650" b="0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4487167"/>
            <a:ext cx="4933950" cy="964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주의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최종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제출을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완료한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이후에는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어떠한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경우에도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점수를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다시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수정할</a:t>
            </a:r>
            <a:r>
              <a:rPr sz="1650" b="1" i="0" u="none" dirty="0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수 </a:t>
            </a:r>
            <a:r>
              <a:rPr sz="1650" b="1" i="0" u="none" dirty="0" err="1">
                <a:solidFill>
                  <a:srgbClr val="236C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없으므로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신중하게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제출해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주세요</a:t>
            </a:r>
            <a:r>
              <a:rPr sz="1650" b="0" i="0" u="none" dirty="0">
                <a:solidFill>
                  <a:srgbClr val="E11D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32174"/>
            <a:ext cx="20002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69196"/>
            <a:ext cx="200025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06217"/>
            <a:ext cx="200025" cy="2476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9263" y="593582"/>
            <a:ext cx="459971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/>
              <a:t>
</a:t>
            </a:r>
            <a:r>
              <a:rPr sz="3300" b="1" i="0" u="none" dirty="0">
                <a:solidFill>
                  <a:srgbClr val="1E293B"/>
                </a:solidFill>
                <a:latin typeface="Pretendard"/>
              </a:rPr>
              <a:t> </a:t>
            </a:r>
            <a:r>
              <a:rPr lang="ko-KR" altLang="en-US" sz="3300" b="1" i="0" u="none" dirty="0" smtClean="0">
                <a:solidFill>
                  <a:srgbClr val="1E293B"/>
                </a:solidFill>
                <a:latin typeface="Pretendard"/>
              </a:rPr>
              <a:t>평가 최종 제출 및 종료</a:t>
            </a:r>
            <a:endParaRPr sz="3300" b="1" i="0" u="none" dirty="0">
              <a:solidFill>
                <a:srgbClr val="1E293B"/>
              </a:solidFill>
              <a:latin typeface="Pretendard"/>
            </a:endParaRPr>
          </a:p>
        </p:txBody>
      </p:sp>
      <p:pic>
        <p:nvPicPr>
          <p:cNvPr id="46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575" y="1900237"/>
            <a:ext cx="4543425" cy="4572000"/>
          </a:xfrm>
          <a:prstGeom prst="rect">
            <a:avLst/>
          </a:prstGeom>
        </p:spPr>
      </p:pic>
      <p:pic>
        <p:nvPicPr>
          <p:cNvPr id="47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225" y="4936628"/>
            <a:ext cx="4048125" cy="1533525"/>
          </a:xfrm>
          <a:prstGeom prst="rect">
            <a:avLst/>
          </a:prstGeom>
        </p:spPr>
      </p:pic>
      <p:pic>
        <p:nvPicPr>
          <p:cNvPr id="48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225" y="3157537"/>
            <a:ext cx="940593" cy="1588591"/>
          </a:xfrm>
          <a:prstGeom prst="rect">
            <a:avLst/>
          </a:prstGeom>
        </p:spPr>
      </p:pic>
      <p:pic>
        <p:nvPicPr>
          <p:cNvPr id="49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068" y="3157537"/>
            <a:ext cx="940593" cy="1588591"/>
          </a:xfrm>
          <a:prstGeom prst="rect">
            <a:avLst/>
          </a:prstGeom>
        </p:spPr>
      </p:pic>
      <p:pic>
        <p:nvPicPr>
          <p:cNvPr id="50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5912" y="3157537"/>
            <a:ext cx="940593" cy="1588591"/>
          </a:xfrm>
          <a:prstGeom prst="rect">
            <a:avLst/>
          </a:prstGeom>
        </p:spPr>
      </p:pic>
      <p:pic>
        <p:nvPicPr>
          <p:cNvPr id="51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756" y="3157537"/>
            <a:ext cx="940593" cy="1588591"/>
          </a:xfrm>
          <a:prstGeom prst="rect">
            <a:avLst/>
          </a:prstGeom>
        </p:spPr>
      </p:pic>
      <p:pic>
        <p:nvPicPr>
          <p:cNvPr id="52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4225" y="2376487"/>
            <a:ext cx="1952625" cy="419100"/>
          </a:xfrm>
          <a:prstGeom prst="rect">
            <a:avLst/>
          </a:prstGeom>
        </p:spPr>
      </p:pic>
      <p:pic>
        <p:nvPicPr>
          <p:cNvPr id="53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9725" y="2376487"/>
            <a:ext cx="1952625" cy="447675"/>
          </a:xfrm>
          <a:prstGeom prst="rect">
            <a:avLst/>
          </a:prstGeom>
        </p:spPr>
      </p:pic>
      <p:pic>
        <p:nvPicPr>
          <p:cNvPr id="54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8050" y="4174628"/>
            <a:ext cx="692943" cy="419100"/>
          </a:xfrm>
          <a:prstGeom prst="rect">
            <a:avLst/>
          </a:prstGeom>
        </p:spPr>
      </p:pic>
      <p:pic>
        <p:nvPicPr>
          <p:cNvPr id="55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3893" y="4174628"/>
            <a:ext cx="692943" cy="419100"/>
          </a:xfrm>
          <a:prstGeom prst="rect">
            <a:avLst/>
          </a:prstGeom>
        </p:spPr>
      </p:pic>
      <p:pic>
        <p:nvPicPr>
          <p:cNvPr id="56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9737" y="4174628"/>
            <a:ext cx="692943" cy="419100"/>
          </a:xfrm>
          <a:prstGeom prst="rect">
            <a:avLst/>
          </a:prstGeom>
        </p:spPr>
      </p:pic>
      <p:pic>
        <p:nvPicPr>
          <p:cNvPr id="57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65581" y="4174628"/>
            <a:ext cx="692943" cy="4191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258050" y="3309937"/>
            <a:ext cx="72759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1E293B"/>
                </a:solidFill>
                <a:latin typeface="Pretendard"/>
              </a:rPr>
              <a:t>실무</a:t>
            </a:r>
            <a:r>
              <a:t>
</a:t>
            </a:r>
            <a:r>
              <a:rPr sz="1125" b="1" i="0" u="none">
                <a:solidFill>
                  <a:srgbClr val="1E293B"/>
                </a:solidFill>
                <a:latin typeface="Pretendard"/>
              </a:rPr>
              <a:t> 적용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58050" y="3738562"/>
            <a:ext cx="692943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retendard"/>
              </a:rPr>
              <a:t> 30점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93893" y="3309937"/>
            <a:ext cx="72759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1E293B"/>
                </a:solidFill>
                <a:latin typeface="Pretendard"/>
              </a:rPr>
              <a:t>업무</a:t>
            </a:r>
            <a:r>
              <a:t>
</a:t>
            </a:r>
            <a:r>
              <a:rPr sz="1125" b="1" i="0" u="none">
                <a:solidFill>
                  <a:srgbClr val="1E293B"/>
                </a:solidFill>
                <a:latin typeface="Pretendard"/>
              </a:rPr>
              <a:t> 효율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93893" y="3738562"/>
            <a:ext cx="692943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retendard"/>
              </a:rPr>
              <a:t> 30점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9737" y="3309937"/>
            <a:ext cx="72759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1E293B"/>
                </a:solidFill>
                <a:latin typeface="Pretendard"/>
              </a:rPr>
              <a:t>창의성/</a:t>
            </a:r>
            <a:r>
              <a:t>
</a:t>
            </a:r>
            <a:r>
              <a:rPr sz="1125" b="1" i="0" u="none">
                <a:solidFill>
                  <a:srgbClr val="1E293B"/>
                </a:solidFill>
                <a:latin typeface="Pretendard"/>
              </a:rPr>
              <a:t> 혁신성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9737" y="3738562"/>
            <a:ext cx="692943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retendard"/>
              </a:rPr>
              <a:t> 20점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65581" y="3309937"/>
            <a:ext cx="72759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1E293B"/>
                </a:solidFill>
                <a:latin typeface="Pretendard"/>
              </a:rPr>
              <a:t>확산</a:t>
            </a:r>
            <a:r>
              <a:t>
</a:t>
            </a:r>
            <a:r>
              <a:rPr sz="1125" b="1" i="0" u="none">
                <a:solidFill>
                  <a:srgbClr val="1E293B"/>
                </a:solidFill>
                <a:latin typeface="Pretendard"/>
              </a:rPr>
              <a:t> 가능성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65581" y="3738562"/>
            <a:ext cx="692943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4748B"/>
                </a:solidFill>
                <a:latin typeface="Pretendard"/>
              </a:rPr>
              <a:t>최대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Pretendard"/>
              </a:rPr>
              <a:t> 20점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34250" y="5189041"/>
            <a:ext cx="36004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총점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90286" y="5136653"/>
            <a:ext cx="62164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5668"/>
                </a:solidFill>
                <a:latin typeface="Pretendard ExtraBold"/>
              </a:rPr>
              <a:t>20 점</a:t>
            </a:r>
          </a:p>
        </p:txBody>
      </p:sp>
      <p:pic>
        <p:nvPicPr>
          <p:cNvPr id="68" name="Picture 5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7125" y="5851028"/>
            <a:ext cx="133350" cy="152400"/>
          </a:xfrm>
          <a:prstGeom prst="rect">
            <a:avLst/>
          </a:prstGeom>
        </p:spPr>
      </p:pic>
      <p:pic>
        <p:nvPicPr>
          <p:cNvPr id="69" name="Picture 5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8775" y="5851028"/>
            <a:ext cx="133350" cy="152400"/>
          </a:xfrm>
          <a:prstGeom prst="rect">
            <a:avLst/>
          </a:prstGeom>
        </p:spPr>
      </p:pic>
      <p:pic>
        <p:nvPicPr>
          <p:cNvPr id="70" name="Picture 5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60905" y="5851028"/>
            <a:ext cx="152400" cy="15240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9577137" y="5621154"/>
            <a:ext cx="1444414" cy="6448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02184"/>
            <a:ext cx="762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3049934"/>
            <a:ext cx="11201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236C7D"/>
                </a:solidFill>
                <a:latin typeface="Pretendard"/>
              </a:rPr>
              <a:t>감사합니다.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211984"/>
            <a:ext cx="10668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1E293B"/>
                </a:solidFill>
                <a:latin typeface="Pretendard"/>
              </a:rPr>
              <a:t>공정하고 원활한 평가 진행을 위해 협조해 주셔서 진심으로 감사드립니다.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275</Words>
  <Application>Microsoft Office PowerPoint</Application>
  <PresentationFormat>와이드스크린</PresentationFormat>
  <Paragraphs>59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Pretendard</vt:lpstr>
      <vt:lpstr>Pretendard ExtraBold</vt:lpstr>
      <vt:lpstr>Pretendard Medium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2026-08-24T05:51:46Z</dcterms:modified>
  <cp:category/>
</cp:coreProperties>
</file>